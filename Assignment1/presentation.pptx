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3" r:id="rId3"/>
    <p:sldId id="284" r:id="rId4"/>
    <p:sldId id="340" r:id="rId6"/>
    <p:sldId id="348" r:id="rId7"/>
    <p:sldId id="285" r:id="rId8"/>
    <p:sldId id="342" r:id="rId9"/>
    <p:sldId id="295" r:id="rId10"/>
    <p:sldId id="349" r:id="rId11"/>
    <p:sldId id="350" r:id="rId12"/>
    <p:sldId id="352" r:id="rId13"/>
    <p:sldId id="351" r:id="rId14"/>
    <p:sldId id="355" r:id="rId15"/>
    <p:sldId id="360" r:id="rId16"/>
    <p:sldId id="343" r:id="rId17"/>
    <p:sldId id="316" r:id="rId18"/>
    <p:sldId id="353" r:id="rId19"/>
    <p:sldId id="356" r:id="rId20"/>
    <p:sldId id="358" r:id="rId21"/>
    <p:sldId id="359" r:id="rId22"/>
    <p:sldId id="361" r:id="rId23"/>
    <p:sldId id="344" r:id="rId24"/>
    <p:sldId id="288" r:id="rId25"/>
    <p:sldId id="362" r:id="rId26"/>
    <p:sldId id="345" r:id="rId27"/>
    <p:sldId id="335" r:id="rId28"/>
    <p:sldId id="279" r:id="rId29"/>
  </p:sldIdLst>
  <p:sldSz cx="12192000" cy="6858000"/>
  <p:notesSz cx="6858000" cy="9144000"/>
  <p:embeddedFontLst>
    <p:embeddedFont>
      <p:font typeface="微软雅黑" pitchFamily="34" charset="-122"/>
      <p:regular r:id="rId33"/>
    </p:embeddedFont>
    <p:embeddedFont>
      <p:font typeface="微软雅黑"/>
      <p:regular r:id="rId34"/>
    </p:embeddedFont>
    <p:embeddedFont>
      <p:font typeface="微软雅黑" charset="0"/>
      <p:regular r:id="rId35"/>
    </p:embeddedFont>
    <p:embeddedFont>
      <p:font typeface="等线" charset="0"/>
      <p:regular r:id="rId3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455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-68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C8C0B-E7A1-4E81-AB6F-6479A52F29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A7FEF-E4FC-4DC9-B4DC-A4589F3A6D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/>
          <a:srcRect l="14939" t="-331" r="309" b="27609"/>
          <a:stretch>
            <a:fillRect/>
          </a:stretch>
        </p:blipFill>
        <p:spPr>
          <a:xfrm>
            <a:off x="0" y="4925961"/>
            <a:ext cx="2251587" cy="19320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387598" y="2130199"/>
            <a:ext cx="6105427" cy="113014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</a:t>
            </a:r>
            <a:br>
              <a:rPr lang="en-US" altLang="zh-CN" dirty="0"/>
            </a:br>
            <a:r>
              <a:rPr lang="zh-CN" altLang="en-US" dirty="0"/>
              <a:t>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387599" y="3978670"/>
            <a:ext cx="2768863" cy="281576"/>
          </a:xfrm>
        </p:spPr>
        <p:txBody>
          <a:bodyPr>
            <a:normAutofit/>
          </a:bodyPr>
          <a:lstStyle>
            <a:lvl1pPr marL="0" indent="0" algn="l">
              <a:buNone/>
              <a:defRPr sz="15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单击此处编辑姓名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任意多边形 25"/>
          <p:cNvSpPr/>
          <p:nvPr userDrawn="1"/>
        </p:nvSpPr>
        <p:spPr>
          <a:xfrm rot="10800000">
            <a:off x="3270515" y="1130300"/>
            <a:ext cx="8249973" cy="4597081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139756 h 4508626"/>
              <a:gd name="connsiteX3-7" fmla="*/ 6762786 w 6826313"/>
              <a:gd name="connsiteY3-8" fmla="*/ 2363957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01324 h 4508626"/>
              <a:gd name="connsiteX3-39" fmla="*/ 6762786 w 6826313"/>
              <a:gd name="connsiteY3-40" fmla="*/ 2363957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01324 h 4508626"/>
              <a:gd name="connsiteX3-75" fmla="*/ 6762786 w 6826313"/>
              <a:gd name="connsiteY3-76" fmla="*/ 2363957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544311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01324 h 4508626"/>
              <a:gd name="connsiteX3-111" fmla="*/ 6762786 w 6826313"/>
              <a:gd name="connsiteY3-112" fmla="*/ 2363957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544311 h 4508626"/>
              <a:gd name="connsiteX14-133" fmla="*/ 6821059 w 6826313"/>
              <a:gd name="connsiteY14-134" fmla="*/ 3600361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26313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01324"/>
                </a:lnTo>
                <a:cubicBezTo>
                  <a:pt x="6805137" y="2401324"/>
                  <a:pt x="6783962" y="2363957"/>
                  <a:pt x="6762786" y="2363957"/>
                </a:cubicBez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544311"/>
                </a:lnTo>
                <a:lnTo>
                  <a:pt x="6821059" y="3600361"/>
                </a:lnTo>
                <a:cubicBezTo>
                  <a:pt x="6822810" y="3903116"/>
                  <a:pt x="6824562" y="4205871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58813" y="62631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2389559" y="4369292"/>
            <a:ext cx="2766903" cy="317669"/>
          </a:xfrm>
        </p:spPr>
        <p:txBody>
          <a:bodyPr/>
          <a:lstStyle>
            <a:lvl1pPr marL="0" indent="0">
              <a:buNone/>
              <a:defRPr sz="1500" b="0"/>
            </a:lvl1pPr>
          </a:lstStyle>
          <a:p>
            <a:pPr lvl="0"/>
            <a:r>
              <a:rPr lang="zh-CN" altLang="en-US" dirty="0"/>
              <a:t>单击此处编辑单位或日期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r="43193"/>
          <a:stretch>
            <a:fillRect/>
          </a:stretch>
        </p:blipFill>
        <p:spPr>
          <a:xfrm>
            <a:off x="9237869" y="1052513"/>
            <a:ext cx="2954132" cy="5200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r="43193"/>
          <a:stretch>
            <a:fillRect/>
          </a:stretch>
        </p:blipFill>
        <p:spPr>
          <a:xfrm>
            <a:off x="9237869" y="1052513"/>
            <a:ext cx="2954132" cy="52003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0" y="2891770"/>
            <a:ext cx="4588562" cy="53723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0" y="3618502"/>
            <a:ext cx="4588562" cy="1019485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r="43193"/>
          <a:stretch>
            <a:fillRect/>
          </a:stretch>
        </p:blipFill>
        <p:spPr>
          <a:xfrm>
            <a:off x="11028320" y="4809503"/>
            <a:ext cx="1163680" cy="2048497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页脚占位符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61D2E-5690-4C9D-A84F-76BBD1AD9F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/>
          <a:srcRect r="43193"/>
          <a:stretch>
            <a:fillRect/>
          </a:stretch>
        </p:blipFill>
        <p:spPr>
          <a:xfrm>
            <a:off x="11028320" y="4809503"/>
            <a:ext cx="1163680" cy="20484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61D2E-5690-4C9D-A84F-76BBD1AD9F3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/>
          <a:srcRect r="43193"/>
          <a:stretch>
            <a:fillRect/>
          </a:stretch>
        </p:blipFill>
        <p:spPr>
          <a:xfrm>
            <a:off x="9237869" y="1052513"/>
            <a:ext cx="2954132" cy="52003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 rot="19976833">
            <a:off x="677043" y="138257"/>
            <a:ext cx="6581166" cy="6581166"/>
            <a:chOff x="1337912" y="7055318"/>
            <a:chExt cx="4273616" cy="4273616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1" t="2701" r="2778" b="2973"/>
            <a:stretch>
              <a:fillRect/>
            </a:stretch>
          </p:blipFill>
          <p:spPr>
            <a:xfrm>
              <a:off x="1337912" y="7064942"/>
              <a:ext cx="4273616" cy="4254367"/>
            </a:xfrm>
            <a:prstGeom prst="ellipse">
              <a:avLst/>
            </a:prstGeom>
          </p:spPr>
        </p:pic>
        <p:sp>
          <p:nvSpPr>
            <p:cNvPr id="13" name="椭圆 12"/>
            <p:cNvSpPr/>
            <p:nvPr userDrawn="1"/>
          </p:nvSpPr>
          <p:spPr>
            <a:xfrm>
              <a:off x="1337912" y="7055317"/>
              <a:ext cx="4273616" cy="4273616"/>
            </a:xfrm>
            <a:prstGeom prst="ellipse">
              <a:avLst/>
            </a:prstGeom>
            <a:solidFill>
              <a:schemeClr val="bg1">
                <a:alpha val="94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387598" y="2391494"/>
            <a:ext cx="5134992" cy="719861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恳请指正</a:t>
            </a:r>
            <a:endParaRPr lang="zh-CN" altLang="en-US" dirty="0"/>
          </a:p>
        </p:txBody>
      </p:sp>
      <p:sp>
        <p:nvSpPr>
          <p:cNvPr id="9" name="任意多边形 25"/>
          <p:cNvSpPr/>
          <p:nvPr userDrawn="1"/>
        </p:nvSpPr>
        <p:spPr>
          <a:xfrm rot="10800000">
            <a:off x="3262047" y="1130300"/>
            <a:ext cx="8258441" cy="4597081"/>
          </a:xfrm>
          <a:custGeom>
            <a:avLst/>
            <a:gdLst>
              <a:gd name="connsiteX0" fmla="*/ 6762786 w 6826313"/>
              <a:gd name="connsiteY0" fmla="*/ 1876457 h 4508626"/>
              <a:gd name="connsiteX1" fmla="*/ 6826313 w 6826313"/>
              <a:gd name="connsiteY1" fmla="*/ 1876457 h 4508626"/>
              <a:gd name="connsiteX2" fmla="*/ 6826313 w 6826313"/>
              <a:gd name="connsiteY2" fmla="*/ 2139756 h 4508626"/>
              <a:gd name="connsiteX3" fmla="*/ 6762786 w 6826313"/>
              <a:gd name="connsiteY3" fmla="*/ 2139756 h 4508626"/>
              <a:gd name="connsiteX4" fmla="*/ 0 w 6826313"/>
              <a:gd name="connsiteY4" fmla="*/ 0 h 4508626"/>
              <a:gd name="connsiteX5" fmla="*/ 6826313 w 6826313"/>
              <a:gd name="connsiteY5" fmla="*/ 0 h 4508626"/>
              <a:gd name="connsiteX6" fmla="*/ 6826313 w 6826313"/>
              <a:gd name="connsiteY6" fmla="*/ 959382 h 4508626"/>
              <a:gd name="connsiteX7" fmla="*/ 6762786 w 6826313"/>
              <a:gd name="connsiteY7" fmla="*/ 959382 h 4508626"/>
              <a:gd name="connsiteX8" fmla="*/ 6762786 w 6826313"/>
              <a:gd name="connsiteY8" fmla="*/ 63527 h 4508626"/>
              <a:gd name="connsiteX9" fmla="*/ 63527 w 6826313"/>
              <a:gd name="connsiteY9" fmla="*/ 63527 h 4508626"/>
              <a:gd name="connsiteX10" fmla="*/ 63527 w 6826313"/>
              <a:gd name="connsiteY10" fmla="*/ 4445099 h 4508626"/>
              <a:gd name="connsiteX11" fmla="*/ 6762786 w 6826313"/>
              <a:gd name="connsiteY11" fmla="*/ 4445099 h 4508626"/>
              <a:gd name="connsiteX12" fmla="*/ 6762786 w 6826313"/>
              <a:gd name="connsiteY12" fmla="*/ 3756057 h 4508626"/>
              <a:gd name="connsiteX13" fmla="*/ 6826313 w 6826313"/>
              <a:gd name="connsiteY13" fmla="*/ 3756057 h 4508626"/>
              <a:gd name="connsiteX14" fmla="*/ 6826313 w 6826313"/>
              <a:gd name="connsiteY14" fmla="*/ 4508626 h 4508626"/>
              <a:gd name="connsiteX15" fmla="*/ 0 w 6826313"/>
              <a:gd name="connsiteY15" fmla="*/ 4508626 h 4508626"/>
              <a:gd name="connsiteX0-1" fmla="*/ 6762786 w 6826313"/>
              <a:gd name="connsiteY0-2" fmla="*/ 1876457 h 4508626"/>
              <a:gd name="connsiteX1-3" fmla="*/ 6826313 w 6826313"/>
              <a:gd name="connsiteY1-4" fmla="*/ 1876457 h 4508626"/>
              <a:gd name="connsiteX2-5" fmla="*/ 6826313 w 6826313"/>
              <a:gd name="connsiteY2-6" fmla="*/ 2476058 h 4508626"/>
              <a:gd name="connsiteX3-7" fmla="*/ 6762786 w 6826313"/>
              <a:gd name="connsiteY3-8" fmla="*/ 2139756 h 4508626"/>
              <a:gd name="connsiteX4-9" fmla="*/ 6762786 w 6826313"/>
              <a:gd name="connsiteY4-10" fmla="*/ 1876457 h 4508626"/>
              <a:gd name="connsiteX5-11" fmla="*/ 0 w 6826313"/>
              <a:gd name="connsiteY5-12" fmla="*/ 0 h 4508626"/>
              <a:gd name="connsiteX6-13" fmla="*/ 6826313 w 6826313"/>
              <a:gd name="connsiteY6-14" fmla="*/ 0 h 4508626"/>
              <a:gd name="connsiteX7-15" fmla="*/ 6826313 w 6826313"/>
              <a:gd name="connsiteY7-16" fmla="*/ 959382 h 4508626"/>
              <a:gd name="connsiteX8-17" fmla="*/ 6762786 w 6826313"/>
              <a:gd name="connsiteY8-18" fmla="*/ 959382 h 4508626"/>
              <a:gd name="connsiteX9-19" fmla="*/ 6762786 w 6826313"/>
              <a:gd name="connsiteY9-20" fmla="*/ 63527 h 4508626"/>
              <a:gd name="connsiteX10-21" fmla="*/ 63527 w 6826313"/>
              <a:gd name="connsiteY10-22" fmla="*/ 63527 h 4508626"/>
              <a:gd name="connsiteX11-23" fmla="*/ 63527 w 6826313"/>
              <a:gd name="connsiteY11-24" fmla="*/ 4445099 h 4508626"/>
              <a:gd name="connsiteX12-25" fmla="*/ 6762786 w 6826313"/>
              <a:gd name="connsiteY12-26" fmla="*/ 4445099 h 4508626"/>
              <a:gd name="connsiteX13-27" fmla="*/ 6762786 w 6826313"/>
              <a:gd name="connsiteY13-28" fmla="*/ 3756057 h 4508626"/>
              <a:gd name="connsiteX14-29" fmla="*/ 6826313 w 6826313"/>
              <a:gd name="connsiteY14-30" fmla="*/ 3756057 h 4508626"/>
              <a:gd name="connsiteX15-31" fmla="*/ 6826313 w 6826313"/>
              <a:gd name="connsiteY15-32" fmla="*/ 4508626 h 4508626"/>
              <a:gd name="connsiteX16" fmla="*/ 0 w 6826313"/>
              <a:gd name="connsiteY16" fmla="*/ 4508626 h 4508626"/>
              <a:gd name="connsiteX17" fmla="*/ 0 w 6826313"/>
              <a:gd name="connsiteY17" fmla="*/ 0 h 4508626"/>
              <a:gd name="connsiteX0-33" fmla="*/ 6762786 w 6826313"/>
              <a:gd name="connsiteY0-34" fmla="*/ 1876457 h 4508626"/>
              <a:gd name="connsiteX1-35" fmla="*/ 6826313 w 6826313"/>
              <a:gd name="connsiteY1-36" fmla="*/ 1876457 h 4508626"/>
              <a:gd name="connsiteX2-37" fmla="*/ 6826313 w 6826313"/>
              <a:gd name="connsiteY2-38" fmla="*/ 2476058 h 4508626"/>
              <a:gd name="connsiteX3-39" fmla="*/ 6762786 w 6826313"/>
              <a:gd name="connsiteY3-40" fmla="*/ 2455298 h 4508626"/>
              <a:gd name="connsiteX4-41" fmla="*/ 6762786 w 6826313"/>
              <a:gd name="connsiteY4-42" fmla="*/ 1876457 h 4508626"/>
              <a:gd name="connsiteX5-43" fmla="*/ 0 w 6826313"/>
              <a:gd name="connsiteY5-44" fmla="*/ 0 h 4508626"/>
              <a:gd name="connsiteX6-45" fmla="*/ 6826313 w 6826313"/>
              <a:gd name="connsiteY6-46" fmla="*/ 0 h 4508626"/>
              <a:gd name="connsiteX7-47" fmla="*/ 6826313 w 6826313"/>
              <a:gd name="connsiteY7-48" fmla="*/ 959382 h 4508626"/>
              <a:gd name="connsiteX8-49" fmla="*/ 6762786 w 6826313"/>
              <a:gd name="connsiteY8-50" fmla="*/ 959382 h 4508626"/>
              <a:gd name="connsiteX9-51" fmla="*/ 6762786 w 6826313"/>
              <a:gd name="connsiteY9-52" fmla="*/ 63527 h 4508626"/>
              <a:gd name="connsiteX10-53" fmla="*/ 63527 w 6826313"/>
              <a:gd name="connsiteY10-54" fmla="*/ 63527 h 4508626"/>
              <a:gd name="connsiteX11-55" fmla="*/ 63527 w 6826313"/>
              <a:gd name="connsiteY11-56" fmla="*/ 4445099 h 4508626"/>
              <a:gd name="connsiteX12-57" fmla="*/ 6762786 w 6826313"/>
              <a:gd name="connsiteY12-58" fmla="*/ 4445099 h 4508626"/>
              <a:gd name="connsiteX13-59" fmla="*/ 6762786 w 6826313"/>
              <a:gd name="connsiteY13-60" fmla="*/ 3756057 h 4508626"/>
              <a:gd name="connsiteX14-61" fmla="*/ 6826313 w 6826313"/>
              <a:gd name="connsiteY14-62" fmla="*/ 3756057 h 4508626"/>
              <a:gd name="connsiteX15-63" fmla="*/ 6826313 w 6826313"/>
              <a:gd name="connsiteY15-64" fmla="*/ 4508626 h 4508626"/>
              <a:gd name="connsiteX16-65" fmla="*/ 0 w 6826313"/>
              <a:gd name="connsiteY16-66" fmla="*/ 4508626 h 4508626"/>
              <a:gd name="connsiteX17-67" fmla="*/ 0 w 6826313"/>
              <a:gd name="connsiteY17-68" fmla="*/ 0 h 4508626"/>
              <a:gd name="connsiteX0-69" fmla="*/ 6762786 w 6826313"/>
              <a:gd name="connsiteY0-70" fmla="*/ 1876457 h 4508626"/>
              <a:gd name="connsiteX1-71" fmla="*/ 6826313 w 6826313"/>
              <a:gd name="connsiteY1-72" fmla="*/ 1876457 h 4508626"/>
              <a:gd name="connsiteX2-73" fmla="*/ 6826313 w 6826313"/>
              <a:gd name="connsiteY2-74" fmla="*/ 2476058 h 4508626"/>
              <a:gd name="connsiteX3-75" fmla="*/ 6762786 w 6826313"/>
              <a:gd name="connsiteY3-76" fmla="*/ 2476058 h 4508626"/>
              <a:gd name="connsiteX4-77" fmla="*/ 6762786 w 6826313"/>
              <a:gd name="connsiteY4-78" fmla="*/ 1876457 h 4508626"/>
              <a:gd name="connsiteX5-79" fmla="*/ 0 w 6826313"/>
              <a:gd name="connsiteY5-80" fmla="*/ 0 h 4508626"/>
              <a:gd name="connsiteX6-81" fmla="*/ 6826313 w 6826313"/>
              <a:gd name="connsiteY6-82" fmla="*/ 0 h 4508626"/>
              <a:gd name="connsiteX7-83" fmla="*/ 6826313 w 6826313"/>
              <a:gd name="connsiteY7-84" fmla="*/ 959382 h 4508626"/>
              <a:gd name="connsiteX8-85" fmla="*/ 6762786 w 6826313"/>
              <a:gd name="connsiteY8-86" fmla="*/ 959382 h 4508626"/>
              <a:gd name="connsiteX9-87" fmla="*/ 6762786 w 6826313"/>
              <a:gd name="connsiteY9-88" fmla="*/ 63527 h 4508626"/>
              <a:gd name="connsiteX10-89" fmla="*/ 63527 w 6826313"/>
              <a:gd name="connsiteY10-90" fmla="*/ 63527 h 4508626"/>
              <a:gd name="connsiteX11-91" fmla="*/ 63527 w 6826313"/>
              <a:gd name="connsiteY11-92" fmla="*/ 4445099 h 4508626"/>
              <a:gd name="connsiteX12-93" fmla="*/ 6762786 w 6826313"/>
              <a:gd name="connsiteY12-94" fmla="*/ 4445099 h 4508626"/>
              <a:gd name="connsiteX13-95" fmla="*/ 6762786 w 6826313"/>
              <a:gd name="connsiteY13-96" fmla="*/ 3756057 h 4508626"/>
              <a:gd name="connsiteX14-97" fmla="*/ 6826313 w 6826313"/>
              <a:gd name="connsiteY14-98" fmla="*/ 3756057 h 4508626"/>
              <a:gd name="connsiteX15-99" fmla="*/ 6826313 w 6826313"/>
              <a:gd name="connsiteY15-100" fmla="*/ 4508626 h 4508626"/>
              <a:gd name="connsiteX16-101" fmla="*/ 0 w 6826313"/>
              <a:gd name="connsiteY16-102" fmla="*/ 4508626 h 4508626"/>
              <a:gd name="connsiteX17-103" fmla="*/ 0 w 6826313"/>
              <a:gd name="connsiteY17-104" fmla="*/ 0 h 4508626"/>
              <a:gd name="connsiteX0-105" fmla="*/ 6762786 w 6826313"/>
              <a:gd name="connsiteY0-106" fmla="*/ 1876457 h 4508626"/>
              <a:gd name="connsiteX1-107" fmla="*/ 6826313 w 6826313"/>
              <a:gd name="connsiteY1-108" fmla="*/ 1876457 h 4508626"/>
              <a:gd name="connsiteX2-109" fmla="*/ 6826313 w 6826313"/>
              <a:gd name="connsiteY2-110" fmla="*/ 2476058 h 4508626"/>
              <a:gd name="connsiteX3-111" fmla="*/ 6762786 w 6826313"/>
              <a:gd name="connsiteY3-112" fmla="*/ 2476058 h 4508626"/>
              <a:gd name="connsiteX4-113" fmla="*/ 6762786 w 6826313"/>
              <a:gd name="connsiteY4-114" fmla="*/ 1876457 h 4508626"/>
              <a:gd name="connsiteX5-115" fmla="*/ 0 w 6826313"/>
              <a:gd name="connsiteY5-116" fmla="*/ 0 h 4508626"/>
              <a:gd name="connsiteX6-117" fmla="*/ 6826313 w 6826313"/>
              <a:gd name="connsiteY6-118" fmla="*/ 0 h 4508626"/>
              <a:gd name="connsiteX7-119" fmla="*/ 6826313 w 6826313"/>
              <a:gd name="connsiteY7-120" fmla="*/ 959382 h 4508626"/>
              <a:gd name="connsiteX8-121" fmla="*/ 6762786 w 6826313"/>
              <a:gd name="connsiteY8-122" fmla="*/ 959382 h 4508626"/>
              <a:gd name="connsiteX9-123" fmla="*/ 6762786 w 6826313"/>
              <a:gd name="connsiteY9-124" fmla="*/ 63527 h 4508626"/>
              <a:gd name="connsiteX10-125" fmla="*/ 63527 w 6826313"/>
              <a:gd name="connsiteY10-126" fmla="*/ 63527 h 4508626"/>
              <a:gd name="connsiteX11-127" fmla="*/ 63527 w 6826313"/>
              <a:gd name="connsiteY11-128" fmla="*/ 4445099 h 4508626"/>
              <a:gd name="connsiteX12-129" fmla="*/ 6762786 w 6826313"/>
              <a:gd name="connsiteY12-130" fmla="*/ 4445099 h 4508626"/>
              <a:gd name="connsiteX13-131" fmla="*/ 6762786 w 6826313"/>
              <a:gd name="connsiteY13-132" fmla="*/ 3403147 h 4508626"/>
              <a:gd name="connsiteX14-133" fmla="*/ 6826313 w 6826313"/>
              <a:gd name="connsiteY14-134" fmla="*/ 3756057 h 4508626"/>
              <a:gd name="connsiteX15-135" fmla="*/ 6826313 w 6826313"/>
              <a:gd name="connsiteY15-136" fmla="*/ 4508626 h 4508626"/>
              <a:gd name="connsiteX16-137" fmla="*/ 0 w 6826313"/>
              <a:gd name="connsiteY16-138" fmla="*/ 4508626 h 4508626"/>
              <a:gd name="connsiteX17-139" fmla="*/ 0 w 6826313"/>
              <a:gd name="connsiteY17-140" fmla="*/ 0 h 4508626"/>
              <a:gd name="connsiteX0-141" fmla="*/ 6762786 w 6829816"/>
              <a:gd name="connsiteY0-142" fmla="*/ 1876457 h 4508626"/>
              <a:gd name="connsiteX1-143" fmla="*/ 6826313 w 6829816"/>
              <a:gd name="connsiteY1-144" fmla="*/ 1876457 h 4508626"/>
              <a:gd name="connsiteX2-145" fmla="*/ 6826313 w 6829816"/>
              <a:gd name="connsiteY2-146" fmla="*/ 2476058 h 4508626"/>
              <a:gd name="connsiteX3-147" fmla="*/ 6762786 w 6829816"/>
              <a:gd name="connsiteY3-148" fmla="*/ 2476058 h 4508626"/>
              <a:gd name="connsiteX4-149" fmla="*/ 6762786 w 6829816"/>
              <a:gd name="connsiteY4-150" fmla="*/ 1876457 h 4508626"/>
              <a:gd name="connsiteX5-151" fmla="*/ 0 w 6829816"/>
              <a:gd name="connsiteY5-152" fmla="*/ 0 h 4508626"/>
              <a:gd name="connsiteX6-153" fmla="*/ 6826313 w 6829816"/>
              <a:gd name="connsiteY6-154" fmla="*/ 0 h 4508626"/>
              <a:gd name="connsiteX7-155" fmla="*/ 6826313 w 6829816"/>
              <a:gd name="connsiteY7-156" fmla="*/ 959382 h 4508626"/>
              <a:gd name="connsiteX8-157" fmla="*/ 6762786 w 6829816"/>
              <a:gd name="connsiteY8-158" fmla="*/ 959382 h 4508626"/>
              <a:gd name="connsiteX9-159" fmla="*/ 6762786 w 6829816"/>
              <a:gd name="connsiteY9-160" fmla="*/ 63527 h 4508626"/>
              <a:gd name="connsiteX10-161" fmla="*/ 63527 w 6829816"/>
              <a:gd name="connsiteY10-162" fmla="*/ 63527 h 4508626"/>
              <a:gd name="connsiteX11-163" fmla="*/ 63527 w 6829816"/>
              <a:gd name="connsiteY11-164" fmla="*/ 4445099 h 4508626"/>
              <a:gd name="connsiteX12-165" fmla="*/ 6762786 w 6829816"/>
              <a:gd name="connsiteY12-166" fmla="*/ 4445099 h 4508626"/>
              <a:gd name="connsiteX13-167" fmla="*/ 6762786 w 6829816"/>
              <a:gd name="connsiteY13-168" fmla="*/ 3403147 h 4508626"/>
              <a:gd name="connsiteX14-169" fmla="*/ 6829816 w 6829816"/>
              <a:gd name="connsiteY14-170" fmla="*/ 3415603 h 4508626"/>
              <a:gd name="connsiteX15-171" fmla="*/ 6826313 w 6829816"/>
              <a:gd name="connsiteY15-172" fmla="*/ 4508626 h 4508626"/>
              <a:gd name="connsiteX16-173" fmla="*/ 0 w 6829816"/>
              <a:gd name="connsiteY16-174" fmla="*/ 4508626 h 4508626"/>
              <a:gd name="connsiteX17-175" fmla="*/ 0 w 6829816"/>
              <a:gd name="connsiteY17-176" fmla="*/ 0 h 4508626"/>
              <a:gd name="connsiteX0-177" fmla="*/ 6762786 w 6833319"/>
              <a:gd name="connsiteY0-178" fmla="*/ 1876457 h 4508626"/>
              <a:gd name="connsiteX1-179" fmla="*/ 6826313 w 6833319"/>
              <a:gd name="connsiteY1-180" fmla="*/ 1876457 h 4508626"/>
              <a:gd name="connsiteX2-181" fmla="*/ 6826313 w 6833319"/>
              <a:gd name="connsiteY2-182" fmla="*/ 2476058 h 4508626"/>
              <a:gd name="connsiteX3-183" fmla="*/ 6762786 w 6833319"/>
              <a:gd name="connsiteY3-184" fmla="*/ 2476058 h 4508626"/>
              <a:gd name="connsiteX4-185" fmla="*/ 6762786 w 6833319"/>
              <a:gd name="connsiteY4-186" fmla="*/ 1876457 h 4508626"/>
              <a:gd name="connsiteX5-187" fmla="*/ 0 w 6833319"/>
              <a:gd name="connsiteY5-188" fmla="*/ 0 h 4508626"/>
              <a:gd name="connsiteX6-189" fmla="*/ 6826313 w 6833319"/>
              <a:gd name="connsiteY6-190" fmla="*/ 0 h 4508626"/>
              <a:gd name="connsiteX7-191" fmla="*/ 6826313 w 6833319"/>
              <a:gd name="connsiteY7-192" fmla="*/ 959382 h 4508626"/>
              <a:gd name="connsiteX8-193" fmla="*/ 6762786 w 6833319"/>
              <a:gd name="connsiteY8-194" fmla="*/ 959382 h 4508626"/>
              <a:gd name="connsiteX9-195" fmla="*/ 6762786 w 6833319"/>
              <a:gd name="connsiteY9-196" fmla="*/ 63527 h 4508626"/>
              <a:gd name="connsiteX10-197" fmla="*/ 63527 w 6833319"/>
              <a:gd name="connsiteY10-198" fmla="*/ 63527 h 4508626"/>
              <a:gd name="connsiteX11-199" fmla="*/ 63527 w 6833319"/>
              <a:gd name="connsiteY11-200" fmla="*/ 4445099 h 4508626"/>
              <a:gd name="connsiteX12-201" fmla="*/ 6762786 w 6833319"/>
              <a:gd name="connsiteY12-202" fmla="*/ 4445099 h 4508626"/>
              <a:gd name="connsiteX13-203" fmla="*/ 6762786 w 6833319"/>
              <a:gd name="connsiteY13-204" fmla="*/ 3403147 h 4508626"/>
              <a:gd name="connsiteX14-205" fmla="*/ 6833319 w 6833319"/>
              <a:gd name="connsiteY14-206" fmla="*/ 3394844 h 4508626"/>
              <a:gd name="connsiteX15-207" fmla="*/ 6826313 w 6833319"/>
              <a:gd name="connsiteY15-208" fmla="*/ 4508626 h 4508626"/>
              <a:gd name="connsiteX16-209" fmla="*/ 0 w 6833319"/>
              <a:gd name="connsiteY16-210" fmla="*/ 4508626 h 4508626"/>
              <a:gd name="connsiteX17-211" fmla="*/ 0 w 6833319"/>
              <a:gd name="connsiteY17-212" fmla="*/ 0 h 45086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65" y="connsiteY16-66"/>
              </a:cxn>
              <a:cxn ang="0">
                <a:pos x="connsiteX17-67" y="connsiteY17-68"/>
              </a:cxn>
            </a:cxnLst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58813" y="6246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387599" y="3978669"/>
            <a:ext cx="2768863" cy="310527"/>
          </a:xfrm>
        </p:spPr>
        <p:txBody>
          <a:bodyPr>
            <a:normAutofit/>
          </a:bodyPr>
          <a:lstStyle>
            <a:lvl1pPr marL="0" indent="0" algn="l">
              <a:buNone/>
              <a:defRPr sz="15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单击此处编辑姓名</a:t>
            </a:r>
            <a:endParaRPr lang="zh-CN" altLang="en-US" dirty="0"/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2389559" y="4369292"/>
            <a:ext cx="2766903" cy="317669"/>
          </a:xfrm>
        </p:spPr>
        <p:txBody>
          <a:bodyPr/>
          <a:lstStyle>
            <a:lvl1pPr marL="0" indent="0">
              <a:buNone/>
              <a:defRPr sz="1500" b="0"/>
            </a:lvl1pPr>
          </a:lstStyle>
          <a:p>
            <a:pPr lvl="0"/>
            <a:r>
              <a:rPr lang="zh-CN" altLang="en-US" dirty="0"/>
              <a:t>单击此处编辑单位或日期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58812" y="365126"/>
            <a:ext cx="10874375" cy="68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8812" y="1129287"/>
            <a:ext cx="10874375" cy="5040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8813" y="62463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2388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8876"/>
            <a:ext cx="2922587" cy="3726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61D2E-5690-4C9D-A84F-76BBD1AD9F3C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V="1">
            <a:off x="658813" y="1052514"/>
            <a:ext cx="10874375" cy="1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1" Type="http://schemas.openxmlformats.org/officeDocument/2006/relationships/tags" Target="../tags/tag1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370" y="2006600"/>
            <a:ext cx="9698990" cy="12045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417FF9"/>
                </a:solidFill>
                <a:effectLst/>
                <a:latin typeface="+mj-lt"/>
                <a:ea typeface="微软雅黑" pitchFamily="34" charset="-122"/>
              </a:rPr>
              <a:t>LLM- Based Black- Box Dynamic Testing of RESTful APIs</a:t>
            </a:r>
            <a:br>
              <a:rPr lang="en-US" altLang="zh-CN" b="1" dirty="0">
                <a:effectLst/>
                <a:latin typeface="+mj-lt"/>
                <a:ea typeface="微软雅黑" pitchFamily="34" charset="-122"/>
              </a:rPr>
            </a:br>
            <a:r>
              <a:rPr lang="en-US" altLang="zh-CN" sz="2400" b="1" dirty="0">
                <a:effectLst/>
                <a:latin typeface="+mj-lt"/>
                <a:ea typeface="微软雅黑" pitchFamily="34" charset="-122"/>
              </a:rPr>
              <a:t>Software Testing Course Project</a:t>
            </a:r>
            <a:endParaRPr lang="en-US" altLang="zh-CN" sz="2400" b="1" dirty="0">
              <a:effectLst/>
              <a:latin typeface="+mj-lt"/>
              <a:ea typeface="微软雅黑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699895" y="3914775"/>
            <a:ext cx="5560060" cy="7245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Member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s : Chengcheng Yin, Qingyi Lu,Yining Sun</a:t>
            </a:r>
            <a:b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</a:b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Instructor : Kaifeng </a:t>
            </a:r>
            <a:r>
              <a:rPr lang="en-US" altLang="zh-CN" sz="16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charset="0"/>
                <a:ea typeface="微软雅黑" charset="0"/>
              </a:rPr>
              <a:t>Huang</a:t>
            </a:r>
            <a:endParaRPr lang="en-US" altLang="zh-CN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0"/>
              <a:ea typeface="微软雅黑" charset="0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0153651" y="6048374"/>
            <a:ext cx="1409700" cy="3973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itchFamily="34" charset="-122"/>
                <a:cs typeface="+mj-cs"/>
              </a:rPr>
              <a:t>2026- 04- 23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itchFamily="34" charset="-122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5" y="95250"/>
            <a:ext cx="45053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Software </a:t>
            </a:r>
            <a:r>
              <a:rPr lang="en-US" altLang="zh-CN" sz="1600" b="1" dirty="0">
                <a:solidFill>
                  <a:schemeClr val="tx1"/>
                </a:solidFill>
              </a:rPr>
              <a:t>Testing 2026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/>
          <p:cNvSpPr txBox="1"/>
          <p:nvPr/>
        </p:nvSpPr>
        <p:spPr>
          <a:xfrm>
            <a:off x="1734454" y="2970485"/>
            <a:ext cx="2523510" cy="74396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</a:rPr>
              <a:t>Content</a:t>
            </a:r>
            <a:endParaRPr lang="en-US" altLang="zh-CN" sz="40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4505601" y="591422"/>
            <a:ext cx="0" cy="5520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/>
          <p:cNvGrpSpPr/>
          <p:nvPr/>
        </p:nvGrpSpPr>
        <p:grpSpPr>
          <a:xfrm>
            <a:off x="1022761" y="2464481"/>
            <a:ext cx="1973435" cy="1831294"/>
            <a:chOff x="3499700" y="3154849"/>
            <a:chExt cx="1107440" cy="838200"/>
          </a:xfrm>
        </p:grpSpPr>
        <p:cxnSp>
          <p:nvCxnSpPr>
            <p:cNvPr id="45" name="直接连接符 44"/>
            <p:cNvCxnSpPr/>
            <p:nvPr/>
          </p:nvCxnSpPr>
          <p:spPr>
            <a:xfrm>
              <a:off x="3499700" y="3154849"/>
              <a:ext cx="1107440" cy="0"/>
            </a:xfrm>
            <a:prstGeom prst="line">
              <a:avLst/>
            </a:prstGeom>
            <a:ln w="41275" cap="rnd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3711367" y="3992574"/>
              <a:ext cx="895773" cy="475"/>
            </a:xfrm>
            <a:prstGeom prst="line">
              <a:avLst/>
            </a:prstGeom>
            <a:ln w="41275" cap="rnd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3711367" y="3154849"/>
              <a:ext cx="0" cy="837725"/>
            </a:xfrm>
            <a:prstGeom prst="line">
              <a:avLst/>
            </a:prstGeom>
            <a:ln w="41275" cap="rnd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4607140" y="3154849"/>
              <a:ext cx="0" cy="130218"/>
            </a:xfrm>
            <a:prstGeom prst="line">
              <a:avLst/>
            </a:prstGeom>
            <a:ln w="41275" cap="rnd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4607140" y="3862356"/>
              <a:ext cx="0" cy="130218"/>
            </a:xfrm>
            <a:prstGeom prst="line">
              <a:avLst/>
            </a:prstGeom>
            <a:ln w="41275" cap="rnd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椭圆 5"/>
          <p:cNvSpPr/>
          <p:nvPr/>
        </p:nvSpPr>
        <p:spPr>
          <a:xfrm>
            <a:off x="5062546" y="1077089"/>
            <a:ext cx="646332" cy="6463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063181" y="2019092"/>
            <a:ext cx="646332" cy="6463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44993" y="1131320"/>
            <a:ext cx="42616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/>
              <a:t>Project </a:t>
            </a:r>
            <a:r>
              <a:rPr lang="en-US" altLang="zh-CN" sz="2000" b="1"/>
              <a:t>Overview</a:t>
            </a:r>
            <a:endParaRPr lang="en-US" altLang="zh-CN" sz="2000" b="1"/>
          </a:p>
        </p:txBody>
      </p:sp>
      <p:sp>
        <p:nvSpPr>
          <p:cNvPr id="16" name="椭圆 15"/>
          <p:cNvSpPr/>
          <p:nvPr/>
        </p:nvSpPr>
        <p:spPr>
          <a:xfrm>
            <a:off x="5063181" y="2993966"/>
            <a:ext cx="646332" cy="6463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063181" y="3968840"/>
            <a:ext cx="646332" cy="6463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45660" y="2084470"/>
            <a:ext cx="42616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Experiment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al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微软雅黑"/>
                <a:cs typeface="+mn-cs"/>
              </a:rPr>
              <a:t>Procedure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845660" y="3061122"/>
            <a:ext cx="42616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/>
              <a:t>Result </a:t>
            </a:r>
            <a:r>
              <a:rPr lang="en-US" sz="2000" b="1"/>
              <a:t>Analysis</a:t>
            </a:r>
            <a:endParaRPr lang="en-US" sz="2000" b="1"/>
          </a:p>
        </p:txBody>
      </p:sp>
      <p:sp>
        <p:nvSpPr>
          <p:cNvPr id="15" name="文本框 14"/>
          <p:cNvSpPr txBox="1"/>
          <p:nvPr/>
        </p:nvSpPr>
        <p:spPr>
          <a:xfrm>
            <a:off x="5845660" y="4046918"/>
            <a:ext cx="42616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AI capability analysis</a:t>
            </a:r>
            <a:endParaRPr lang="en-US" altLang="zh-CN" sz="20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063816" y="4944200"/>
            <a:ext cx="646332" cy="6463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845660" y="5019738"/>
            <a:ext cx="42616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Conclusion</a:t>
            </a:r>
            <a:endParaRPr lang="en-US" altLang="zh-CN" sz="20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43001" y="2644169"/>
            <a:ext cx="20355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01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548" y="2127445"/>
            <a:ext cx="2992938" cy="26031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27527" y="2932522"/>
            <a:ext cx="77644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Project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Overview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Project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Overview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0"/>
            <a:ext cx="731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66750" y="1309370"/>
            <a:ext cx="5108575" cy="3649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Background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manual EP,BVA,test- case design is slow.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cross- field rules, auth, and edge cases are easy to miss.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2000" b="1" dirty="0">
                <a:solidFill>
                  <a:prstClr val="black"/>
                </a:solidFill>
                <a:latin typeface="微软雅黑" charset="0"/>
                <a:ea typeface="微软雅黑" charset="0"/>
              </a:rPr>
              <a:t>Goal</a:t>
            </a:r>
            <a:endParaRPr lang="zh-CN" altLang="en-US" sz="2000" b="1" dirty="0">
              <a:solidFill>
                <a:prstClr val="black"/>
              </a:solidFill>
              <a:latin typeface="微软雅黑" charset="0"/>
              <a:ea typeface="微软雅黑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use large language model(LLM) to design black- box tests for a documented REST API.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run and evaluate them in </a:t>
            </a: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Interface testing tools(Apifox).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5365" y="1309370"/>
            <a:ext cx="5429885" cy="3649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Project </a:t>
            </a: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Work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Generating black- box test cases using </a:t>
            </a: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LLM and iteratively optimizing the generation quality.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Executing test cases using the Apifox tool and recording results.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Analyzing equivalence class partitioning(EP), boundary value coverage(BVA),etc.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Evaluating the advantages and limitations of LLM in test case generation.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Experiment Design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0" y="0"/>
            <a:ext cx="731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66750" y="1193165"/>
            <a:ext cx="5108575" cy="3649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Input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RESTful API Interface Document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Prompt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lang="en-US" altLang="zh-CN" sz="2000" b="1" dirty="0">
                <a:solidFill>
                  <a:prstClr val="black"/>
                </a:solidFill>
                <a:latin typeface="微软雅黑" charset="0"/>
                <a:ea typeface="微软雅黑" charset="0"/>
              </a:rPr>
              <a:t>Tools</a:t>
            </a:r>
            <a:endParaRPr lang="zh-CN" altLang="en-US" sz="2000" b="1" dirty="0">
              <a:solidFill>
                <a:prstClr val="black"/>
              </a:solidFill>
              <a:latin typeface="微软雅黑" charset="0"/>
              <a:ea typeface="微软雅黑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GPT- 5.3:Produces EP/BVA tables and numbered test cases from natural- language requirements.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Apifox:Execute test cases, record test results (HTTP status codes, business codes) , comparing them with the expected results generated by LLM.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Output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EP/ BVA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Simple test case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Combination Input test ca</a:t>
            </a: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se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State transition test </a:t>
            </a: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case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R="0" lvl="0" indent="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95" y="3210560"/>
            <a:ext cx="3980180" cy="351409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00455"/>
            <a:ext cx="53594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43001" y="2644169"/>
            <a:ext cx="203554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02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548" y="2127445"/>
            <a:ext cx="2992938" cy="26031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27527" y="2932522"/>
            <a:ext cx="77644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Experiment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 Produce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Experimental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Produce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234565"/>
            <a:ext cx="10071100" cy="4318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0730" y="1233805"/>
            <a:ext cx="992886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This experiment selected 8 interfaces from the interface documentation as input. 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The information of these interfaces is as follows: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Prompt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Design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0730" y="1116965"/>
            <a:ext cx="6204585" cy="2784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Taking the interface  GET / jobs API as an example: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same requirements excerpt is pasted into each round; only the instructions after {Input} change.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Goal of each round: EP table + BVA table + exactly 10 sample test cases, tabular format.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v4 adds a dedicated input-combination case set on top of v3-style coverage.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  <a:p>
            <a:pPr indent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Prompt Design (v1)</a:t>
            </a:r>
            <a:endParaRPr lang="en-US" altLang="zh-CN" sz="2000" b="1" dirty="0">
              <a:solidFill>
                <a:prstClr val="black"/>
              </a:solidFill>
              <a:latin typeface="微软雅黑" pitchFamily="34" charset="-122"/>
              <a:ea typeface="宋体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235" y="1212215"/>
            <a:ext cx="1808480" cy="5321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085" y="1891030"/>
            <a:ext cx="4054475" cy="44088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140" y="1319530"/>
            <a:ext cx="3238500" cy="5715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30" y="3832860"/>
            <a:ext cx="52324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LLM Output (v1)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1179195"/>
            <a:ext cx="11261090" cy="49828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LLM Output (v2)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55" y="1281430"/>
            <a:ext cx="10545445" cy="52971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LLM Output (v3)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236980"/>
            <a:ext cx="10417810" cy="5415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Combination Input test (                   ) 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 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1380490"/>
            <a:ext cx="10977880" cy="40963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75" y="416560"/>
            <a:ext cx="1808480" cy="532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Combination Input test (                   ) 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 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60" y="1381125"/>
            <a:ext cx="10977880" cy="40963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75" y="416560"/>
            <a:ext cx="1808480" cy="5321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43001" y="2644169"/>
            <a:ext cx="203554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03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548" y="2128080"/>
            <a:ext cx="2992938" cy="26031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27527" y="2932522"/>
            <a:ext cx="77644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Result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Analysis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EP coverage (                  )</a:t>
            </a:r>
            <a:endParaRPr lang="zh-CN" altLang="en-US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0" y="1270635"/>
            <a:ext cx="10506710" cy="50895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425" y="485775"/>
            <a:ext cx="181419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EP And BVA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coverage (total)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1338580"/>
            <a:ext cx="10296525" cy="48583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EP and BVA coverage (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v1- v2- v3)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575" y="1075690"/>
            <a:ext cx="9062085" cy="2874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75" y="3905885"/>
            <a:ext cx="9015095" cy="27666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0410" y="2329180"/>
            <a:ext cx="6102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EP</a:t>
            </a:r>
            <a:endParaRPr lang="en-US" altLang="zh-CN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7410" y="5105400"/>
            <a:ext cx="7308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BVA</a:t>
            </a:r>
            <a:endParaRPr lang="en-US" altLang="zh-CN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EP and BVA missing analysis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445260"/>
            <a:ext cx="10168890" cy="50717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Apifox result (Sample test case)</a:t>
            </a:r>
            <a:endParaRPr lang="zh-CN" altLang="en-US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275455"/>
            <a:ext cx="9887585" cy="1556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160145"/>
            <a:ext cx="8859520" cy="26879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8030" y="39379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Failure </a:t>
            </a: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reason</a:t>
            </a:r>
            <a:endParaRPr lang="en-US" altLang="zh-CN" sz="1600" b="1" i="0">
              <a:solidFill>
                <a:srgbClr val="000000"/>
              </a:solidFill>
              <a:latin typeface="Microsoft YaHei"/>
              <a:ea typeface="Microsoft YaHe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8030" y="5854065"/>
            <a:ext cx="102273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Raw pass rate is </a:t>
            </a: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77.1%</a:t>
            </a:r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; effective pass rate is </a:t>
            </a: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81.0%</a:t>
            </a:r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 </a:t>
            </a:r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after excluding four backend/environment failures.</a:t>
            </a:r>
            <a:endParaRPr lang="en-US" altLang="zh-CN" sz="1600" b="0" i="0">
              <a:solidFill>
                <a:srgbClr val="00000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Apifox result (Combination input test)</a:t>
            </a:r>
            <a:endParaRPr lang="zh-CN" altLang="en-US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275455"/>
            <a:ext cx="9887585" cy="1556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160145"/>
            <a:ext cx="8859520" cy="26879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8030" y="39379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Failure </a:t>
            </a: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reason</a:t>
            </a:r>
            <a:endParaRPr lang="en-US" altLang="zh-CN" sz="1600" b="1" i="0">
              <a:solidFill>
                <a:srgbClr val="000000"/>
              </a:solidFill>
              <a:latin typeface="Microsoft YaHei"/>
              <a:ea typeface="Microsoft YaHei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8030" y="5854065"/>
            <a:ext cx="102273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Raw pass rate is </a:t>
            </a: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77.1%</a:t>
            </a:r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; effective pass rate is </a:t>
            </a:r>
            <a:r>
              <a:rPr lang="en-US" altLang="zh-CN" sz="1600" b="1" i="0">
                <a:solidFill>
                  <a:srgbClr val="000000"/>
                </a:solidFill>
                <a:latin typeface="Microsoft YaHei"/>
                <a:ea typeface="Microsoft YaHei"/>
              </a:rPr>
              <a:t>81.0%</a:t>
            </a:r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 </a:t>
            </a:r>
            <a:r>
              <a:rPr lang="en-US" altLang="zh-CN" sz="1600" b="0" i="0">
                <a:solidFill>
                  <a:srgbClr val="000000"/>
                </a:solidFill>
                <a:latin typeface="Microsoft YaHei"/>
                <a:ea typeface="Microsoft YaHei"/>
              </a:rPr>
              <a:t>after excluding four backend/environment failures.</a:t>
            </a:r>
            <a:endParaRPr lang="en-US" altLang="zh-CN" sz="1600" b="0" i="0">
              <a:solidFill>
                <a:srgbClr val="000000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43001" y="2644169"/>
            <a:ext cx="203554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04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548" y="2127445"/>
            <a:ext cx="2992938" cy="26031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27527" y="2932522"/>
            <a:ext cx="77644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capability analysis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LLM- assisted vs Manual </a:t>
            </a: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design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267825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741693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215561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689430" y="574052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163299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370330"/>
            <a:ext cx="10950575" cy="43605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Strengths, Limits and Role in Black- Box Testing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267825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741693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0215561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689430" y="574052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163299" y="574052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122680"/>
            <a:ext cx="10680700" cy="27317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65" y="4615180"/>
            <a:ext cx="10465435" cy="19354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74065" y="391985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Role</a:t>
            </a:r>
            <a:endParaRPr lang="en-US" altLang="zh-CN" sz="28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143001" y="2644169"/>
            <a:ext cx="203554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05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8548" y="2127445"/>
            <a:ext cx="2992938" cy="260310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27527" y="2932522"/>
            <a:ext cx="77644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Conclusion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1" y="409576"/>
            <a:ext cx="10858498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Conclusion</a:t>
            </a:r>
            <a:endParaRPr lang="en-US" altLang="zh-CN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9267825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9741693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0215561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0689430" y="552451"/>
            <a:ext cx="361950" cy="361950"/>
          </a:xfrm>
          <a:prstGeom prst="ellipse">
            <a:avLst/>
          </a:prstGeom>
          <a:noFill/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163299" y="552451"/>
            <a:ext cx="361950" cy="361950"/>
          </a:xfrm>
          <a:prstGeom prst="ellipse">
            <a:avLst/>
          </a:prstGeom>
          <a:solidFill>
            <a:srgbClr val="B4C7E7"/>
          </a:solidFill>
          <a:ln w="28575" cap="flat" cmpd="sng" algn="ctr">
            <a:solidFill>
              <a:srgbClr val="2E75B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2775" y="1396365"/>
            <a:ext cx="5327015" cy="3725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Key Findings</a:t>
            </a:r>
            <a:endParaRPr lang="en-US" altLang="zh-CN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+mn-ea"/>
              </a:rPr>
              <a:t>A complete workflow was established for the REST API: API specification input → LLM generation → Iterative hint optimization → Apifox execution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+mn-ea"/>
              </a:rPr>
              <a:t>After iterations , the final version achieved an overall pass rate of 85.3% EP, 72.7% BVA, and 77.1% (excluding backend exceptions, the effective pass rate was 81.0%).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+mn-ea"/>
              </a:rPr>
              <a:t>LLM performs well on explicit rules (required fields, format checks, enumerations, regular boundaries), but remains unstable on implicit or complex constraints.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0" y="1396365"/>
            <a:ext cx="5192395" cy="1878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Recommended </a:t>
            </a:r>
            <a:r>
              <a:rPr lang="en-US" altLang="zh-CN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Practices</a:t>
            </a:r>
            <a:endParaRPr lang="en-US" altLang="zh-CN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+mn-ea"/>
              </a:rPr>
              <a:t>Use LLM for initial draft generation, not as a complete replacement.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600" b="1" noProof="0" dirty="0">
                <a:ln>
                  <a:noFill/>
                </a:ln>
                <a:solidFill>
                  <a:srgbClr val="455A61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+mn-ea"/>
              </a:rPr>
              <a:t>Adopt a hybrid workflow: hint constraints + iterative regeneration + manual review to balance speed and reliability.</a:t>
            </a:r>
            <a:endParaRPr lang="en-US" altLang="zh-CN" sz="1600" b="1" noProof="0" dirty="0">
              <a:ln>
                <a:noFill/>
              </a:ln>
              <a:solidFill>
                <a:srgbClr val="455A61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1450662" y="2286000"/>
            <a:ext cx="7307258" cy="8282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itchFamily="34" charset="-122"/>
                <a:cs typeface="+mj-cs"/>
              </a:rPr>
              <a:t>Thanks for </a:t>
            </a:r>
            <a:r>
              <a:rPr lang="en-US" altLang="zh-CN" sz="4000" dirty="0">
                <a:solidFill>
                  <a:prstClr val="black"/>
                </a:solidFill>
                <a:latin typeface="微软雅黑"/>
                <a:ea typeface="微软雅黑" pitchFamily="34" charset="-122"/>
              </a:rPr>
              <a:t>Your Listening!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725" y="95250"/>
            <a:ext cx="450532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Software </a:t>
            </a:r>
            <a:r>
              <a:rPr lang="en-US" altLang="zh-CN" sz="1600" b="1" dirty="0">
                <a:solidFill>
                  <a:schemeClr val="tx1"/>
                </a:solidFill>
              </a:rPr>
              <a:t>Testing 2026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13840" y="3990975"/>
            <a:ext cx="6811645" cy="5149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417FF9"/>
                </a:solidFill>
                <a:effectLst/>
                <a:latin typeface="+mj-lt"/>
                <a:ea typeface="微软雅黑" pitchFamily="34" charset="-122"/>
                <a:sym typeface="+mn-ea"/>
              </a:rPr>
              <a:t>LLM- Based Black- Box Dynamic Testing of RESTful APIs</a:t>
            </a:r>
            <a:endParaRPr lang="en-US" altLang="zh-CN" sz="2000" dirty="0">
              <a:solidFill>
                <a:srgbClr val="417FF9"/>
              </a:solidFill>
              <a:effectLst/>
              <a:latin typeface="+mj-lt"/>
              <a:ea typeface="微软雅黑" pitchFamily="34" charset="-122"/>
              <a:sym typeface="+mn-ea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3219289" y="5825407"/>
            <a:ext cx="4917100" cy="7246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600"/>
              <a:t>Members: Chengcheng Yin,Qingyi Lu,Yining Sun</a:t>
            </a:r>
            <a:endParaRPr lang="en-US" sz="1600"/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600"/>
              <a:t>Instructor:Kaifeng Huang</a:t>
            </a:r>
            <a:endParaRPr lang="en-US" sz="1600"/>
          </a:p>
        </p:txBody>
      </p:sp>
      <p:sp>
        <p:nvSpPr>
          <p:cNvPr id="12" name="标题 1"/>
          <p:cNvSpPr txBox="1"/>
          <p:nvPr/>
        </p:nvSpPr>
        <p:spPr>
          <a:xfrm>
            <a:off x="10153651" y="6048374"/>
            <a:ext cx="1409700" cy="3973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itchFamily="34" charset="-122"/>
                <a:cs typeface="+mj-cs"/>
              </a:rPr>
              <a:t>2026- 04- 23</a:t>
            </a:r>
            <a:endParaRPr lang="en-US" sz="16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3368</Words>
  <Application>WPS 演示</Application>
  <PresentationFormat>自定义</PresentationFormat>
  <Paragraphs>159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微软雅黑</vt:lpstr>
      <vt:lpstr>微软雅黑</vt:lpstr>
      <vt:lpstr>Wingdings</vt:lpstr>
      <vt:lpstr>宋体</vt:lpstr>
      <vt:lpstr>汉仪书宋二KW</vt:lpstr>
      <vt:lpstr>Arial Unicode MS</vt:lpstr>
      <vt:lpstr>等线</vt:lpstr>
      <vt:lpstr>Calibri</vt:lpstr>
      <vt:lpstr>Helvetica Neue</vt:lpstr>
      <vt:lpstr>黑体</vt:lpstr>
      <vt:lpstr>汉仪中黑KW</vt:lpstr>
      <vt:lpstr>Microsoft YaHei</vt:lpstr>
      <vt:lpstr>1_Office 主题​​</vt:lpstr>
      <vt:lpstr>校缘互助平台——技能服务买卖系统 期末汇报展示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 Based Black- Box Testing for RESTful API Documentation 期末汇报展示</dc:title>
  <dc:creator>Minmus Lin</dc:creator>
  <cp:lastModifiedBy>沉尘</cp:lastModifiedBy>
  <cp:revision>10</cp:revision>
  <dcterms:created xsi:type="dcterms:W3CDTF">2026-04-19T16:32:57Z</dcterms:created>
  <dcterms:modified xsi:type="dcterms:W3CDTF">2026-04-19T16:32:57Z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2B3A7FEB95B469E3FDF2E46951EBBA77_43</vt:lpwstr>
  </property>
  <property fmtid="{D5CDD505-2E9C-101B-9397-08002B2CF9AE}" pid="3" name="KSOProductBuildVer">
    <vt:lpwstr>2052-12.1.25867.25867</vt:lpwstr>
  </property>
</Properties>
</file>